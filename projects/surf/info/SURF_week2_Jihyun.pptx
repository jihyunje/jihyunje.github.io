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1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1pPr>
    <a:lvl2pPr marL="3429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2pPr>
    <a:lvl3pPr marL="6858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3pPr>
    <a:lvl4pPr marL="10287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4pPr>
    <a:lvl5pPr marL="13716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5pPr>
    <a:lvl6pPr marL="17145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6pPr>
    <a:lvl7pPr marL="20574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7pPr>
    <a:lvl8pPr marL="24003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8pPr>
    <a:lvl9pPr marL="27432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6FB86-5A76-0943-B4DD-338F86B8F961}" v="27" dt="2024-06-26T06:03:01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132"/>
  </p:normalViewPr>
  <p:slideViewPr>
    <p:cSldViewPr snapToGrid="0">
      <p:cViewPr varScale="1">
        <p:scale>
          <a:sx n="111" d="100"/>
          <a:sy n="111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506F-F678-4145-8C7E-F29EB10049E4}" type="datetimeFigureOut">
              <a:rPr lang="en-KR" smtClean="0"/>
              <a:t>2024/06/25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CD408-5D71-A940-A3FF-1DB19D4BF94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793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CD408-5D71-A940-A3FF-1DB19D4BF940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14198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Remote: user is in a different environment from the robot, mainly meaning the user is viewing camera feed from robot</a:t>
            </a:r>
          </a:p>
          <a:p>
            <a:r>
              <a:rPr lang="en-KR" dirty="0"/>
              <a:t>Indirect Input Signals: no use of direct input signals like joysticks etc, based on eye gaze, EEG signals, etc\</a:t>
            </a:r>
          </a:p>
          <a:p>
            <a:endParaRPr lang="en-KR" dirty="0"/>
          </a:p>
          <a:p>
            <a:pPr lvl="1"/>
            <a:r>
              <a:rPr lang="en-KR" dirty="0"/>
              <a:t>Methods for processing eye gaze data and classifying user intent</a:t>
            </a:r>
          </a:p>
          <a:p>
            <a:pPr lvl="1"/>
            <a:r>
              <a:rPr lang="en-KR" dirty="0"/>
              <a:t>Research on eye gaze incorporated with BCI</a:t>
            </a:r>
          </a:p>
          <a:p>
            <a:pPr lvl="1"/>
            <a:r>
              <a:rPr lang="en-KR" dirty="0"/>
              <a:t>Projects that use VR-based teleoperation of robots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CD408-5D71-A940-A3FF-1DB19D4BF940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6572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CD408-5D71-A940-A3FF-1DB19D4BF940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840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E5FE-4B50-43AB-85F7-A07AC5DB2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F2C7A-2ED2-47CC-837B-A7BA38B32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81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2244"/>
            <a:ext cx="11582400" cy="685800"/>
          </a:xfrm>
        </p:spPr>
        <p:txBody>
          <a:bodyPr>
            <a:normAutofit/>
          </a:bodyPr>
          <a:lstStyle>
            <a:lvl1pPr>
              <a:defRPr sz="3500" b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2681"/>
            <a:ext cx="11582400" cy="4784504"/>
          </a:xfrm>
        </p:spPr>
        <p:txBody>
          <a:bodyPr anchor="ctr">
            <a:normAutofit/>
          </a:bodyPr>
          <a:lstStyle>
            <a:lvl1pPr marL="457189" indent="-457189">
              <a:buClr>
                <a:schemeClr val="tx1"/>
              </a:buClr>
              <a:buFont typeface="Wingdings" charset="2"/>
              <a:buChar char="Ø"/>
              <a:defRPr sz="2800"/>
            </a:lvl1pPr>
            <a:lvl2pPr marL="914377" indent="-457189">
              <a:buClr>
                <a:schemeClr val="tx1"/>
              </a:buClr>
              <a:buFont typeface="Wingdings" charset="2"/>
              <a:buChar char="Ø"/>
              <a:defRPr sz="2400"/>
            </a:lvl2pPr>
            <a:lvl3pPr marL="1295368" indent="-380990">
              <a:buClr>
                <a:schemeClr val="tx1"/>
              </a:buClr>
              <a:buFont typeface="Wingdings" charset="2"/>
              <a:buChar char="Ø"/>
              <a:defRPr sz="2000"/>
            </a:lvl3pPr>
            <a:lvl4pPr marL="1752556" indent="-380990">
              <a:buClr>
                <a:schemeClr val="tx1"/>
              </a:buClr>
              <a:buFont typeface="Wingdings" charset="2"/>
              <a:buChar char="Ø"/>
              <a:defRPr sz="1800"/>
            </a:lvl4pPr>
            <a:lvl5pPr marL="2209745" indent="-380990">
              <a:buClr>
                <a:schemeClr val="tx1"/>
              </a:buClr>
              <a:buFont typeface="Wingdings" charset="2"/>
              <a:buChar char="Ø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29730"/>
            <a:ext cx="5283200" cy="4812270"/>
          </a:xfrm>
        </p:spPr>
        <p:txBody>
          <a:bodyPr anchor="ctr"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029730"/>
            <a:ext cx="5892800" cy="4812270"/>
          </a:xfrm>
        </p:spPr>
        <p:txBody>
          <a:bodyPr anchor="ctr"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04800" y="165297"/>
            <a:ext cx="11582400" cy="685800"/>
          </a:xfrm>
        </p:spPr>
        <p:txBody>
          <a:bodyPr>
            <a:normAutofit/>
          </a:bodyPr>
          <a:lstStyle>
            <a:lvl1pPr>
              <a:defRPr sz="3500" b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7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 txBox="1">
            <a:spLocks/>
          </p:cNvSpPr>
          <p:nvPr/>
        </p:nvSpPr>
        <p:spPr bwMode="auto">
          <a:xfrm>
            <a:off x="0" y="3530600"/>
            <a:ext cx="12192000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98B01"/>
              </a:buClr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380DC"/>
              </a:buClr>
              <a:buFont typeface="Wingdings" pitchFamily="2" charset="2"/>
              <a:buChar char="§"/>
              <a:defRPr sz="2800">
                <a:solidFill>
                  <a:srgbClr val="4F4F4F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F4F4F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b="1" kern="0" dirty="0">
                <a:solidFill>
                  <a:schemeClr val="bg1"/>
                </a:solidFill>
                <a:latin typeface="+mj-lt"/>
              </a:rPr>
              <a:t>Author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b="1" kern="0" dirty="0">
                <a:solidFill>
                  <a:schemeClr val="bg1"/>
                </a:solidFill>
                <a:latin typeface="+mj-lt"/>
              </a:rPr>
              <a:t>Company/Organization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kern="0" dirty="0">
                <a:solidFill>
                  <a:schemeClr val="bg1"/>
                </a:solidFill>
                <a:latin typeface="+mj-lt"/>
              </a:rPr>
              <a:t>Conference Name, Conference Dates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kern="0" dirty="0">
                <a:solidFill>
                  <a:schemeClr val="bg1"/>
                </a:solidFill>
                <a:latin typeface="+mj-lt"/>
              </a:rPr>
              <a:t>Conference Location</a:t>
            </a:r>
          </a:p>
          <a:p>
            <a:pPr>
              <a:buClr>
                <a:srgbClr val="00529B"/>
              </a:buClr>
              <a:buFont typeface="Wingdings" charset="2"/>
              <a:buChar char="Ø"/>
            </a:pPr>
            <a:endParaRPr lang="en-US" sz="3200" kern="0" dirty="0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0" y="990600"/>
            <a:ext cx="1219200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9pPr>
          </a:lstStyle>
          <a:p>
            <a:pPr algn="ctr"/>
            <a:r>
              <a:rPr lang="en-US" sz="7200" b="1" kern="0" dirty="0">
                <a:solidFill>
                  <a:schemeClr val="bg1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3278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01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848" y="1498600"/>
            <a:ext cx="11582400" cy="448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4241800" y="6096000"/>
            <a:ext cx="386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8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>
              <a:defRPr/>
            </a:pPr>
            <a:endParaRPr lang="en-US" sz="140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1075"/>
            <a:ext cx="1158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kern="0" dirty="0">
                <a:solidFill>
                  <a:schemeClr val="bg1"/>
                </a:solidFill>
              </a:rPr>
              <a:t>Presentation Title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BDD363DC-C3FA-46F8-B68C-6BE18368EC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173" y="6245573"/>
            <a:ext cx="921264" cy="22318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3980CE-AD20-4171-81A4-A5B3AA7358BE}"/>
              </a:ext>
            </a:extLst>
          </p:cNvPr>
          <p:cNvCxnSpPr>
            <a:cxnSpLocks/>
          </p:cNvCxnSpPr>
          <p:nvPr/>
        </p:nvCxnSpPr>
        <p:spPr bwMode="auto">
          <a:xfrm>
            <a:off x="0" y="6096000"/>
            <a:ext cx="12192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4B6352-498B-484C-B9D1-E548914CEBBC}"/>
              </a:ext>
            </a:extLst>
          </p:cNvPr>
          <p:cNvSpPr txBox="1"/>
          <p:nvPr/>
        </p:nvSpPr>
        <p:spPr>
          <a:xfrm>
            <a:off x="1679575" y="6267227"/>
            <a:ext cx="88328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kern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Utilizing User Intent Recognized with VR for Robot Motion Planning</a:t>
            </a:r>
          </a:p>
          <a:p>
            <a:pPr algn="ctr"/>
            <a:r>
              <a:rPr lang="en-US" sz="1050" b="0" kern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Jihyun</a:t>
            </a:r>
            <a:r>
              <a:rPr lang="en-US" sz="1050" b="0" kern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Jeon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E9E989C1-3D0A-DAD9-3F93-15C923F7D9C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" t="36445" r="51015" b="36380"/>
          <a:stretch/>
        </p:blipFill>
        <p:spPr>
          <a:xfrm>
            <a:off x="304800" y="6238490"/>
            <a:ext cx="1623200" cy="4933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02F0C3-BCFC-267E-E8BF-FEE83C9977BB}"/>
              </a:ext>
            </a:extLst>
          </p:cNvPr>
          <p:cNvSpPr txBox="1"/>
          <p:nvPr/>
        </p:nvSpPr>
        <p:spPr>
          <a:xfrm>
            <a:off x="10974173" y="6468761"/>
            <a:ext cx="92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39804DE-1496-4C11-B6E2-2C7A325ED12F}" type="slidenum">
              <a:rPr lang="en-AU" sz="1400" smtClean="0">
                <a:latin typeface="Verdana" panose="020B0604030504040204" pitchFamily="34" charset="0"/>
                <a:ea typeface="Verdana" panose="020B0604030504040204" pitchFamily="34" charset="0"/>
              </a:rPr>
              <a:pPr algn="ctr"/>
              <a:t>‹#›</a:t>
            </a:fld>
            <a:endParaRPr lang="en-A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marL="0" marR="0" indent="0" algn="ctr" defTabSz="121917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3733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Tx/>
        <a:buFont typeface="Wingdings" charset="2"/>
        <a:buChar char="Ø"/>
        <a:defRPr sz="3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4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364AA0-31D3-03F0-0B45-61475D2569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KR" dirty="0"/>
              <a:t>Who I am</a:t>
            </a:r>
          </a:p>
          <a:p>
            <a:pPr lvl="1"/>
            <a:r>
              <a:rPr lang="en-KR" dirty="0"/>
              <a:t>Jihyun, Caltech 25’</a:t>
            </a:r>
          </a:p>
          <a:p>
            <a:pPr lvl="1"/>
            <a:r>
              <a:rPr lang="en-KR" dirty="0"/>
              <a:t>CS major with focus on Robotics</a:t>
            </a:r>
          </a:p>
          <a:p>
            <a:pPr lvl="1"/>
            <a:r>
              <a:rPr lang="en-KR" dirty="0"/>
              <a:t>International student from Korea</a:t>
            </a:r>
          </a:p>
          <a:p>
            <a:pPr lvl="1"/>
            <a:endParaRPr lang="en-KR" dirty="0"/>
          </a:p>
          <a:p>
            <a:r>
              <a:rPr lang="en-KR" dirty="0"/>
              <a:t>My Research Project</a:t>
            </a:r>
          </a:p>
          <a:p>
            <a:pPr lvl="1"/>
            <a:r>
              <a:rPr lang="en-KR" dirty="0"/>
              <a:t>Can eye gaze be used to control a robot</a:t>
            </a:r>
          </a:p>
          <a:p>
            <a:pPr lvl="1"/>
            <a:r>
              <a:rPr lang="en-KR" dirty="0"/>
              <a:t>Hope to to provide VR interface for mentor’s work on BCI</a:t>
            </a:r>
          </a:p>
        </p:txBody>
      </p:sp>
      <p:pic>
        <p:nvPicPr>
          <p:cNvPr id="9" name="Content Placeholder 8" descr="A diagram of a device&#10;&#10;Description automatically generated">
            <a:extLst>
              <a:ext uri="{FF2B5EF4-FFF2-40B4-BE49-F238E27FC236}">
                <a16:creationId xmlns:a16="http://schemas.microsoft.com/office/drawing/2014/main" id="{41F12C50-00CB-FB66-3AA2-B55B7A0EC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13" y="798463"/>
            <a:ext cx="7215187" cy="526107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09781CD-5EE3-6D06-0765-6770A730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Introduction/Background</a:t>
            </a:r>
          </a:p>
        </p:txBody>
      </p:sp>
    </p:spTree>
    <p:extLst>
      <p:ext uri="{BB962C8B-B14F-4D97-AF65-F5344CB8AC3E}">
        <p14:creationId xmlns:p14="http://schemas.microsoft.com/office/powerpoint/2010/main" val="321749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35CB-A05B-0C14-7856-9BAA7B48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Past Work (1): Researching Related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51283-245D-4D31-B1F1-93B00FB503F8}"/>
              </a:ext>
            </a:extLst>
          </p:cNvPr>
          <p:cNvSpPr txBox="1"/>
          <p:nvPr/>
        </p:nvSpPr>
        <p:spPr>
          <a:xfrm>
            <a:off x="558800" y="1109755"/>
            <a:ext cx="346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400" dirty="0"/>
              <a:t>User Intent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C90CA-94DA-A514-5955-F78B693EE156}"/>
              </a:ext>
            </a:extLst>
          </p:cNvPr>
          <p:cNvSpPr txBox="1"/>
          <p:nvPr/>
        </p:nvSpPr>
        <p:spPr>
          <a:xfrm>
            <a:off x="4362450" y="1090909"/>
            <a:ext cx="346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400" dirty="0"/>
              <a:t>VR based Teleoperation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C5305-99FC-3749-7208-10215A1451A9}"/>
              </a:ext>
            </a:extLst>
          </p:cNvPr>
          <p:cNvSpPr txBox="1"/>
          <p:nvPr/>
        </p:nvSpPr>
        <p:spPr>
          <a:xfrm>
            <a:off x="8166100" y="1090909"/>
            <a:ext cx="372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400" dirty="0"/>
              <a:t>BCI with Eye Gaze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2674C-3604-16D0-9DB0-D2E0CD6E169F}"/>
              </a:ext>
            </a:extLst>
          </p:cNvPr>
          <p:cNvSpPr txBox="1"/>
          <p:nvPr/>
        </p:nvSpPr>
        <p:spPr>
          <a:xfrm>
            <a:off x="635000" y="5304644"/>
            <a:ext cx="1092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800" dirty="0">
                <a:sym typeface="Wingdings" pitchFamily="2" charset="2"/>
              </a:rPr>
              <a:t> No Remote VR-based Teleoperation with Indirect Input Signals </a:t>
            </a:r>
            <a:endParaRPr lang="en-KR" sz="2800" dirty="0"/>
          </a:p>
        </p:txBody>
      </p:sp>
      <p:pic>
        <p:nvPicPr>
          <p:cNvPr id="12" name="Picture 11" descr="A person working on a robot&#10;&#10;Description automatically generated">
            <a:extLst>
              <a:ext uri="{FF2B5EF4-FFF2-40B4-BE49-F238E27FC236}">
                <a16:creationId xmlns:a16="http://schemas.microsoft.com/office/drawing/2014/main" id="{B19E946B-DB7D-DF1F-C16E-4EE4E984BE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5" b="7556"/>
          <a:stretch/>
        </p:blipFill>
        <p:spPr>
          <a:xfrm>
            <a:off x="790575" y="1552574"/>
            <a:ext cx="3003550" cy="2541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3B7106-60C6-7DAB-9C8C-DB8585DF741D}"/>
              </a:ext>
            </a:extLst>
          </p:cNvPr>
          <p:cNvSpPr txBox="1"/>
          <p:nvPr/>
        </p:nvSpPr>
        <p:spPr>
          <a:xfrm>
            <a:off x="743223" y="4094107"/>
            <a:ext cx="309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400" dirty="0">
                <a:solidFill>
                  <a:schemeClr val="tx2"/>
                </a:solidFill>
              </a:rPr>
              <a:t>Used for human-robot collaboration</a:t>
            </a:r>
          </a:p>
          <a:p>
            <a:pPr algn="ctr"/>
            <a:r>
              <a:rPr lang="en-KR" sz="1400" dirty="0">
                <a:solidFill>
                  <a:schemeClr val="tx2"/>
                </a:solidFill>
              </a:rPr>
              <a:t>Belcamino et al (2024)</a:t>
            </a:r>
          </a:p>
        </p:txBody>
      </p:sp>
      <p:pic>
        <p:nvPicPr>
          <p:cNvPr id="15" name="Picture 14" descr="A diagram of a robot&#10;&#10;Description automatically generated">
            <a:extLst>
              <a:ext uri="{FF2B5EF4-FFF2-40B4-BE49-F238E27FC236}">
                <a16:creationId xmlns:a16="http://schemas.microsoft.com/office/drawing/2014/main" id="{19588558-3DC3-8F94-DB57-3B1740DCF8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2"/>
          <a:stretch/>
        </p:blipFill>
        <p:spPr>
          <a:xfrm>
            <a:off x="4546873" y="1436393"/>
            <a:ext cx="3098253" cy="31225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F773EF-7DCF-BB0F-0838-FF9A1FB6B4F9}"/>
              </a:ext>
            </a:extLst>
          </p:cNvPr>
          <p:cNvSpPr txBox="1"/>
          <p:nvPr/>
        </p:nvSpPr>
        <p:spPr>
          <a:xfrm>
            <a:off x="4546873" y="4557551"/>
            <a:ext cx="309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400" dirty="0">
                <a:solidFill>
                  <a:schemeClr val="tx2"/>
                </a:solidFill>
              </a:rPr>
              <a:t>Immersive teleoperation system</a:t>
            </a:r>
          </a:p>
          <a:p>
            <a:pPr algn="ctr"/>
            <a:r>
              <a:rPr lang="en-KR" sz="1400" dirty="0">
                <a:solidFill>
                  <a:schemeClr val="tx2"/>
                </a:solidFill>
              </a:rPr>
              <a:t>Stotko et al (2020)</a:t>
            </a:r>
          </a:p>
        </p:txBody>
      </p:sp>
      <p:pic>
        <p:nvPicPr>
          <p:cNvPr id="18" name="Picture 17" descr="A diagram of a computer simulation&#10;&#10;Description automatically generated with medium confidence">
            <a:extLst>
              <a:ext uri="{FF2B5EF4-FFF2-40B4-BE49-F238E27FC236}">
                <a16:creationId xmlns:a16="http://schemas.microsoft.com/office/drawing/2014/main" id="{6E286ABD-61EE-264D-76CB-BB5B63235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134" y="1551112"/>
            <a:ext cx="4057032" cy="30844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62C789-5F97-E754-485A-7CCAA77ADF85}"/>
              </a:ext>
            </a:extLst>
          </p:cNvPr>
          <p:cNvSpPr txBox="1"/>
          <p:nvPr/>
        </p:nvSpPr>
        <p:spPr>
          <a:xfrm>
            <a:off x="8286067" y="4634273"/>
            <a:ext cx="3484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400" dirty="0">
                <a:solidFill>
                  <a:schemeClr val="tx2"/>
                </a:solidFill>
              </a:rPr>
              <a:t>Example of BCI framework with eye gaze</a:t>
            </a:r>
          </a:p>
          <a:p>
            <a:pPr algn="ctr"/>
            <a:r>
              <a:rPr lang="en-KR" sz="1400" dirty="0">
                <a:solidFill>
                  <a:schemeClr val="tx2"/>
                </a:solidFill>
              </a:rPr>
              <a:t>Shi et al (2017)</a:t>
            </a:r>
          </a:p>
        </p:txBody>
      </p:sp>
    </p:spTree>
    <p:extLst>
      <p:ext uri="{BB962C8B-B14F-4D97-AF65-F5344CB8AC3E}">
        <p14:creationId xmlns:p14="http://schemas.microsoft.com/office/powerpoint/2010/main" val="160316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1EC2-4193-2D21-11B3-085A5810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Past Work (2): Preparing for Developement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0B98-7976-806C-8E75-ECFC218E7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2681"/>
            <a:ext cx="11582400" cy="2922465"/>
          </a:xfrm>
        </p:spPr>
        <p:txBody>
          <a:bodyPr>
            <a:normAutofit/>
          </a:bodyPr>
          <a:lstStyle/>
          <a:p>
            <a:r>
              <a:rPr lang="en-KR" dirty="0"/>
              <a:t>Experimenting with Meta Quest Pro and prepping for development</a:t>
            </a:r>
          </a:p>
          <a:p>
            <a:r>
              <a:rPr lang="en-KR" dirty="0"/>
              <a:t>Setting up development environment for Native application development on Linux</a:t>
            </a:r>
          </a:p>
          <a:p>
            <a:r>
              <a:rPr lang="en-KR" dirty="0"/>
              <a:t>Getting familiar with Android app development and OpenXR and Quest SDKs</a:t>
            </a:r>
          </a:p>
          <a:p>
            <a:pPr lvl="1"/>
            <a:endParaRPr lang="en-KR" dirty="0"/>
          </a:p>
        </p:txBody>
      </p:sp>
      <p:pic>
        <p:nvPicPr>
          <p:cNvPr id="5" name="Picture 4" descr="A close up of a pair of grey circles&#10;&#10;Description automatically generated with medium confidence">
            <a:extLst>
              <a:ext uri="{FF2B5EF4-FFF2-40B4-BE49-F238E27FC236}">
                <a16:creationId xmlns:a16="http://schemas.microsoft.com/office/drawing/2014/main" id="{527CBCB1-4C78-2536-5031-923245C7A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27" y="3687392"/>
            <a:ext cx="3652345" cy="2282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09A96E-2139-F561-5A4C-6EDED54EFC60}"/>
              </a:ext>
            </a:extLst>
          </p:cNvPr>
          <p:cNvSpPr txBox="1"/>
          <p:nvPr/>
        </p:nvSpPr>
        <p:spPr>
          <a:xfrm>
            <a:off x="8050924" y="5600776"/>
            <a:ext cx="475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H</a:t>
            </a:r>
            <a:r>
              <a:rPr lang="en-KR" dirty="0">
                <a:solidFill>
                  <a:schemeClr val="tx2"/>
                </a:solidFill>
              </a:rPr>
              <a:t>ello_xr sample code running smoothly</a:t>
            </a:r>
          </a:p>
        </p:txBody>
      </p:sp>
    </p:spTree>
    <p:extLst>
      <p:ext uri="{BB962C8B-B14F-4D97-AF65-F5344CB8AC3E}">
        <p14:creationId xmlns:p14="http://schemas.microsoft.com/office/powerpoint/2010/main" val="239832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BDC0-DC83-1943-0C93-C2D55F2EB7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 anchorCtr="0">
            <a:normAutofit/>
          </a:bodyPr>
          <a:lstStyle/>
          <a:p>
            <a:r>
              <a:rPr lang="en-KR" dirty="0"/>
              <a:t>Built preliminary eye tracker based on sample project</a:t>
            </a:r>
          </a:p>
          <a:p>
            <a:r>
              <a:rPr lang="en-KR" dirty="0"/>
              <a:t>Limitations</a:t>
            </a:r>
          </a:p>
          <a:p>
            <a:pPr lvl="1"/>
            <a:r>
              <a:rPr lang="en-KR" dirty="0"/>
              <a:t>Fixed eye position</a:t>
            </a:r>
          </a:p>
          <a:p>
            <a:pPr lvl="1"/>
            <a:r>
              <a:rPr lang="en-KR" dirty="0"/>
              <a:t>Tracks orientation, not eye gaze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306FA-6E30-BA4E-4FB7-355295C0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Current Work</a:t>
            </a:r>
          </a:p>
        </p:txBody>
      </p:sp>
      <p:pic>
        <p:nvPicPr>
          <p:cNvPr id="10" name="Content Placeholder 9" descr="A pair of green screenshots&#10;&#10;Description automatically generated">
            <a:extLst>
              <a:ext uri="{FF2B5EF4-FFF2-40B4-BE49-F238E27FC236}">
                <a16:creationId xmlns:a16="http://schemas.microsoft.com/office/drawing/2014/main" id="{73DDAA36-1FFA-1CF4-F8CB-15BEDDA246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4" t="22845" r="19854" b="16861"/>
          <a:stretch/>
        </p:blipFill>
        <p:spPr>
          <a:xfrm>
            <a:off x="5588000" y="1016000"/>
            <a:ext cx="5892800" cy="3121398"/>
          </a:xfrm>
        </p:spPr>
      </p:pic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8864BCA-82EE-27B9-431C-2EE7A8C63E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946"/>
          <a:stretch/>
        </p:blipFill>
        <p:spPr>
          <a:xfrm>
            <a:off x="5588000" y="4151128"/>
            <a:ext cx="5892799" cy="171833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45955B-C925-1CB3-9ED7-720005EEFB8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15175" y="1728788"/>
            <a:ext cx="3200400" cy="46514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C58BFD-6F01-3268-E47D-65B994961831}"/>
              </a:ext>
            </a:extLst>
          </p:cNvPr>
          <p:cNvCxnSpPr>
            <a:cxnSpLocks/>
          </p:cNvCxnSpPr>
          <p:nvPr/>
        </p:nvCxnSpPr>
        <p:spPr bwMode="auto">
          <a:xfrm flipV="1">
            <a:off x="6543675" y="1728788"/>
            <a:ext cx="571500" cy="46514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4E9D04-79AC-AE5E-32F7-249C60BA7DB9}"/>
              </a:ext>
            </a:extLst>
          </p:cNvPr>
          <p:cNvSpPr txBox="1"/>
          <p:nvPr/>
        </p:nvSpPr>
        <p:spPr>
          <a:xfrm>
            <a:off x="5648326" y="1082457"/>
            <a:ext cx="2212975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KR" dirty="0">
                <a:solidFill>
                  <a:schemeClr val="tx2"/>
                </a:solidFill>
              </a:rPr>
              <a:t>Cones representing eye directions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304EFEA-A086-FBD5-5BED-017A4A5323B3}"/>
              </a:ext>
            </a:extLst>
          </p:cNvPr>
          <p:cNvCxnSpPr>
            <a:cxnSpLocks/>
          </p:cNvCxnSpPr>
          <p:nvPr/>
        </p:nvCxnSpPr>
        <p:spPr bwMode="auto">
          <a:xfrm flipH="1">
            <a:off x="4465638" y="5010294"/>
            <a:ext cx="112236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9D26D27-58F6-D7A5-F6CE-870F134C6214}"/>
              </a:ext>
            </a:extLst>
          </p:cNvPr>
          <p:cNvSpPr txBox="1"/>
          <p:nvPr/>
        </p:nvSpPr>
        <p:spPr>
          <a:xfrm>
            <a:off x="1408107" y="4687128"/>
            <a:ext cx="3171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tx2"/>
                </a:solidFill>
              </a:rPr>
              <a:t>Outputs orientation of each eye every frame update</a:t>
            </a:r>
          </a:p>
        </p:txBody>
      </p:sp>
    </p:spTree>
    <p:extLst>
      <p:ext uri="{BB962C8B-B14F-4D97-AF65-F5344CB8AC3E}">
        <p14:creationId xmlns:p14="http://schemas.microsoft.com/office/powerpoint/2010/main" val="10474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3E07-73BE-16C9-1D02-F9321C7C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A848-F2B7-0D0C-3464-AFE1C4FB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Improve eye tracker</a:t>
            </a:r>
          </a:p>
          <a:p>
            <a:pPr lvl="1"/>
            <a:r>
              <a:rPr lang="en-KR" dirty="0"/>
              <a:t>Incorporate video stream from depth camera</a:t>
            </a:r>
          </a:p>
          <a:p>
            <a:pPr lvl="1"/>
            <a:r>
              <a:rPr lang="en-KR" dirty="0"/>
              <a:t>Track eye gaze</a:t>
            </a:r>
          </a:p>
          <a:p>
            <a:r>
              <a:rPr lang="en-KR" dirty="0"/>
              <a:t>Process eye gaze data</a:t>
            </a:r>
          </a:p>
          <a:p>
            <a:pPr lvl="1"/>
            <a:r>
              <a:rPr lang="en-KR" dirty="0"/>
              <a:t>Model eye gaze data in a meaningful way</a:t>
            </a:r>
          </a:p>
          <a:p>
            <a:pPr lvl="1"/>
            <a:r>
              <a:rPr lang="en-KR" dirty="0"/>
              <a:t>Classify user intent</a:t>
            </a:r>
          </a:p>
          <a:p>
            <a:r>
              <a:rPr lang="en-KR" dirty="0"/>
              <a:t>Further work</a:t>
            </a:r>
          </a:p>
          <a:p>
            <a:pPr lvl="1"/>
            <a:r>
              <a:rPr lang="en-KR" dirty="0"/>
              <a:t>Use eye gaze data for robot motion planner</a:t>
            </a:r>
          </a:p>
          <a:p>
            <a:pPr lvl="1"/>
            <a:r>
              <a:rPr lang="en-KR" dirty="0"/>
              <a:t>Create immersive VR scene</a:t>
            </a:r>
          </a:p>
          <a:p>
            <a:pPr lvl="1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187262013"/>
      </p:ext>
    </p:extLst>
  </p:cSld>
  <p:clrMapOvr>
    <a:masterClrMapping/>
  </p:clrMapOvr>
</p:sld>
</file>

<file path=ppt/theme/theme1.xml><?xml version="1.0" encoding="utf-8"?>
<a:theme xmlns:a="http://schemas.openxmlformats.org/drawingml/2006/main" name="caltech_theme_new">
  <a:themeElements>
    <a:clrScheme name="Custom 1">
      <a:dk1>
        <a:srgbClr val="76777B"/>
      </a:dk1>
      <a:lt1>
        <a:srgbClr val="FFFFFF"/>
      </a:lt1>
      <a:dk2>
        <a:srgbClr val="000000"/>
      </a:dk2>
      <a:lt2>
        <a:srgbClr val="808080"/>
      </a:lt2>
      <a:accent1>
        <a:srgbClr val="FF6C0C"/>
      </a:accent1>
      <a:accent2>
        <a:srgbClr val="76777B"/>
      </a:accent2>
      <a:accent3>
        <a:srgbClr val="C8C8C8"/>
      </a:accent3>
      <a:accent4>
        <a:srgbClr val="AAA99F"/>
      </a:accent4>
      <a:accent5>
        <a:srgbClr val="CF0A2C"/>
      </a:accent5>
      <a:accent6>
        <a:srgbClr val="00A1DF"/>
      </a:accent6>
      <a:hlink>
        <a:srgbClr val="0070C0"/>
      </a:hlink>
      <a:folHlink>
        <a:srgbClr val="0070C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ltech_theme_new" id="{CC9E72B5-00B8-4792-B1B4-B9FDF4AB5F51}" vid="{A14FBE93-C073-449C-A4AA-9C152C727C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caltech_theme_new</Template>
  <TotalTime>263</TotalTime>
  <Words>298</Words>
  <Application>Microsoft Macintosh PowerPoint</Application>
  <PresentationFormat>Widescreen</PresentationFormat>
  <Paragraphs>51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Times</vt:lpstr>
      <vt:lpstr>Arial</vt:lpstr>
      <vt:lpstr>Arial Narrow</vt:lpstr>
      <vt:lpstr>Calibri</vt:lpstr>
      <vt:lpstr>Verdana</vt:lpstr>
      <vt:lpstr>Wingdings</vt:lpstr>
      <vt:lpstr>caltech_theme_new</vt:lpstr>
      <vt:lpstr>Introduction/Background</vt:lpstr>
      <vt:lpstr>Past Work (1): Researching Related Work</vt:lpstr>
      <vt:lpstr>Past Work (2): Preparing for Developement</vt:lpstr>
      <vt:lpstr>Current Work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Jeon, Ji Hyun</dc:creator>
  <cp:lastModifiedBy>Jeon, Ji Hyun</cp:lastModifiedBy>
  <cp:revision>2</cp:revision>
  <dcterms:created xsi:type="dcterms:W3CDTF">2024-06-26T01:44:46Z</dcterms:created>
  <dcterms:modified xsi:type="dcterms:W3CDTF">2024-06-26T06:10:44Z</dcterms:modified>
</cp:coreProperties>
</file>