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1" r:id="rId2"/>
    <p:sldId id="257" r:id="rId3"/>
    <p:sldId id="262" r:id="rId4"/>
    <p:sldId id="258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1pPr>
    <a:lvl2pPr marL="3429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2pPr>
    <a:lvl3pPr marL="6858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3pPr>
    <a:lvl4pPr marL="10287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4pPr>
    <a:lvl5pPr marL="1371600" algn="l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5pPr>
    <a:lvl6pPr marL="17145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6pPr>
    <a:lvl7pPr marL="20574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7pPr>
    <a:lvl8pPr marL="24003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8pPr>
    <a:lvl9pPr marL="2743200" algn="l" defTabSz="685800" rtl="0" eaLnBrk="1" latinLnBrk="0" hangingPunct="1">
      <a:defRPr sz="1800" kern="1200">
        <a:solidFill>
          <a:schemeClr val="tx1"/>
        </a:solidFill>
        <a:latin typeface="Arial" charset="0"/>
        <a:ea typeface="ＭＳ Ｐゴシック" charset="-128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4990F3-734E-554C-B310-4D63A366F9C8}" v="5" dt="2024-07-10T15:35:01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132"/>
  </p:normalViewPr>
  <p:slideViewPr>
    <p:cSldViewPr snapToGrid="0">
      <p:cViewPr varScale="1">
        <p:scale>
          <a:sx n="110" d="100"/>
          <a:sy n="110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5506F-F678-4145-8C7E-F29EB10049E4}" type="datetimeFigureOut">
              <a:rPr lang="en-KR" smtClean="0"/>
              <a:t>2024/07/10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CD408-5D71-A940-A3FF-1DB19D4BF94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5793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Remote: user is in a different environment from the robot, mainly meaning the user is viewing camera feed from robot</a:t>
            </a:r>
          </a:p>
          <a:p>
            <a:r>
              <a:rPr lang="en-KR" dirty="0"/>
              <a:t>Indirect Input Signals: no use of direct input signals like joysticks etc, based on eye gaze, EEG signals, etc\</a:t>
            </a:r>
          </a:p>
          <a:p>
            <a:endParaRPr lang="en-KR" dirty="0"/>
          </a:p>
          <a:p>
            <a:pPr lvl="1"/>
            <a:r>
              <a:rPr lang="en-KR" dirty="0"/>
              <a:t>Methods for processing eye gaze data and classifying user intent</a:t>
            </a:r>
          </a:p>
          <a:p>
            <a:pPr lvl="1"/>
            <a:r>
              <a:rPr lang="en-KR" dirty="0"/>
              <a:t>Research on eye gaze incorporated with BCI</a:t>
            </a:r>
          </a:p>
          <a:p>
            <a:pPr lvl="1"/>
            <a:r>
              <a:rPr lang="en-KR" dirty="0"/>
              <a:t>Projects that use VR-based teleoperation of robots</a:t>
            </a:r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CD408-5D71-A940-A3FF-1DB19D4BF940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6572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CD408-5D71-A940-A3FF-1DB19D4BF940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28406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E5FE-4B50-43AB-85F7-A07AC5DB2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F2C7A-2ED2-47CC-837B-A7BA38B32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081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62244"/>
            <a:ext cx="11582400" cy="685800"/>
          </a:xfrm>
        </p:spPr>
        <p:txBody>
          <a:bodyPr>
            <a:normAutofit/>
          </a:bodyPr>
          <a:lstStyle>
            <a:lvl1pPr>
              <a:defRPr sz="3500" b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2681"/>
            <a:ext cx="11582400" cy="4784504"/>
          </a:xfrm>
        </p:spPr>
        <p:txBody>
          <a:bodyPr anchor="ctr">
            <a:normAutofit/>
          </a:bodyPr>
          <a:lstStyle>
            <a:lvl1pPr marL="457189" indent="-457189">
              <a:buClr>
                <a:schemeClr val="tx1"/>
              </a:buClr>
              <a:buFont typeface="Wingdings" charset="2"/>
              <a:buChar char="Ø"/>
              <a:defRPr sz="2800"/>
            </a:lvl1pPr>
            <a:lvl2pPr marL="914377" indent="-457189">
              <a:buClr>
                <a:schemeClr val="tx1"/>
              </a:buClr>
              <a:buFont typeface="Wingdings" charset="2"/>
              <a:buChar char="Ø"/>
              <a:defRPr sz="2400"/>
            </a:lvl2pPr>
            <a:lvl3pPr marL="1295368" indent="-380990">
              <a:buClr>
                <a:schemeClr val="tx1"/>
              </a:buClr>
              <a:buFont typeface="Wingdings" charset="2"/>
              <a:buChar char="Ø"/>
              <a:defRPr sz="2000"/>
            </a:lvl3pPr>
            <a:lvl4pPr marL="1752556" indent="-380990">
              <a:buClr>
                <a:schemeClr val="tx1"/>
              </a:buClr>
              <a:buFont typeface="Wingdings" charset="2"/>
              <a:buChar char="Ø"/>
              <a:defRPr sz="1800"/>
            </a:lvl4pPr>
            <a:lvl5pPr marL="2209745" indent="-380990">
              <a:buClr>
                <a:schemeClr val="tx1"/>
              </a:buClr>
              <a:buFont typeface="Wingdings" charset="2"/>
              <a:buChar char="Ø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29730"/>
            <a:ext cx="5283200" cy="4812270"/>
          </a:xfrm>
        </p:spPr>
        <p:txBody>
          <a:bodyPr anchor="ctr">
            <a:normAutofit/>
          </a:bodyPr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4400" y="1029730"/>
            <a:ext cx="5892800" cy="4812270"/>
          </a:xfrm>
        </p:spPr>
        <p:txBody>
          <a:bodyPr anchor="ctr">
            <a:normAutofit/>
          </a:bodyPr>
          <a:lstStyle>
            <a:lvl1pPr>
              <a:buClr>
                <a:schemeClr val="tx1"/>
              </a:buCl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buClr>
                <a:schemeClr val="tx1"/>
              </a:buClr>
              <a:defRPr sz="1800"/>
            </a:lvl3pPr>
            <a:lvl4pPr>
              <a:buClr>
                <a:schemeClr val="tx1"/>
              </a:buClr>
              <a:defRPr sz="1600"/>
            </a:lvl4pPr>
            <a:lvl5pPr>
              <a:buClr>
                <a:schemeClr val="tx1"/>
              </a:buCl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04800" y="165297"/>
            <a:ext cx="11582400" cy="685800"/>
          </a:xfrm>
        </p:spPr>
        <p:txBody>
          <a:bodyPr>
            <a:normAutofit/>
          </a:bodyPr>
          <a:lstStyle>
            <a:lvl1pPr>
              <a:defRPr sz="3500" b="1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77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 txBox="1">
            <a:spLocks/>
          </p:cNvSpPr>
          <p:nvPr/>
        </p:nvSpPr>
        <p:spPr bwMode="auto">
          <a:xfrm>
            <a:off x="0" y="3530600"/>
            <a:ext cx="12192000" cy="147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98B01"/>
              </a:buClr>
              <a:buFont typeface="Times" pitchFamily="18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380DC"/>
              </a:buClr>
              <a:buFont typeface="Wingdings" pitchFamily="2" charset="2"/>
              <a:buChar char="§"/>
              <a:defRPr sz="2800">
                <a:solidFill>
                  <a:srgbClr val="4F4F4F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F4F4F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80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80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80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80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buClr>
                <a:srgbClr val="00529B"/>
              </a:buClr>
              <a:buNone/>
            </a:pPr>
            <a:r>
              <a:rPr lang="en-US" altLang="en-US" sz="2133" b="1" kern="0" dirty="0">
                <a:solidFill>
                  <a:schemeClr val="bg1"/>
                </a:solidFill>
                <a:latin typeface="+mj-lt"/>
              </a:rPr>
              <a:t>Author</a:t>
            </a:r>
          </a:p>
          <a:p>
            <a:pPr marL="0" indent="0" algn="ctr" eaLnBrk="1" hangingPunct="1">
              <a:buClr>
                <a:srgbClr val="00529B"/>
              </a:buClr>
              <a:buNone/>
            </a:pPr>
            <a:r>
              <a:rPr lang="en-US" altLang="en-US" sz="2133" b="1" kern="0" dirty="0">
                <a:solidFill>
                  <a:schemeClr val="bg1"/>
                </a:solidFill>
                <a:latin typeface="+mj-lt"/>
              </a:rPr>
              <a:t>Company/Organization</a:t>
            </a:r>
          </a:p>
          <a:p>
            <a:pPr marL="0" indent="0" algn="ctr" eaLnBrk="1" hangingPunct="1">
              <a:buClr>
                <a:srgbClr val="00529B"/>
              </a:buClr>
              <a:buNone/>
            </a:pPr>
            <a:r>
              <a:rPr lang="en-US" altLang="en-US" sz="2133" kern="0" dirty="0">
                <a:solidFill>
                  <a:schemeClr val="bg1"/>
                </a:solidFill>
                <a:latin typeface="+mj-lt"/>
              </a:rPr>
              <a:t>Conference Name, Conference Dates</a:t>
            </a:r>
          </a:p>
          <a:p>
            <a:pPr marL="0" indent="0" algn="ctr" eaLnBrk="1" hangingPunct="1">
              <a:buClr>
                <a:srgbClr val="00529B"/>
              </a:buClr>
              <a:buNone/>
            </a:pPr>
            <a:r>
              <a:rPr lang="en-US" altLang="en-US" sz="2133" kern="0" dirty="0">
                <a:solidFill>
                  <a:schemeClr val="bg1"/>
                </a:solidFill>
                <a:latin typeface="+mj-lt"/>
              </a:rPr>
              <a:t>Conference Location</a:t>
            </a:r>
          </a:p>
          <a:p>
            <a:pPr>
              <a:buClr>
                <a:srgbClr val="00529B"/>
              </a:buClr>
              <a:buFont typeface="Wingdings" charset="2"/>
              <a:buChar char="Ø"/>
            </a:pPr>
            <a:endParaRPr lang="en-US" sz="3200" kern="0" dirty="0"/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0" y="990600"/>
            <a:ext cx="12192000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9pPr>
          </a:lstStyle>
          <a:p>
            <a:pPr algn="ctr"/>
            <a:r>
              <a:rPr lang="en-US" sz="7200" b="1" kern="0" dirty="0">
                <a:solidFill>
                  <a:schemeClr val="bg1"/>
                </a:solidFill>
              </a:rP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73278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016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7848" y="1498600"/>
            <a:ext cx="11582400" cy="4484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9"/>
          <p:cNvSpPr>
            <a:spLocks noGrp="1" noChangeArrowheads="1"/>
          </p:cNvSpPr>
          <p:nvPr/>
        </p:nvSpPr>
        <p:spPr bwMode="auto">
          <a:xfrm>
            <a:off x="4241800" y="6096000"/>
            <a:ext cx="386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80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9pPr>
          </a:lstStyle>
          <a:p>
            <a:pPr>
              <a:defRPr/>
            </a:pPr>
            <a:endParaRPr lang="en-US" sz="140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1075"/>
            <a:ext cx="1158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b="1" kern="0" dirty="0">
                <a:solidFill>
                  <a:schemeClr val="bg1"/>
                </a:solidFill>
              </a:rPr>
              <a:t>Presentation Title</a:t>
            </a: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BDD363DC-C3FA-46F8-B68C-6BE18368EC8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4173" y="6245573"/>
            <a:ext cx="921264" cy="22318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3980CE-AD20-4171-81A4-A5B3AA7358BE}"/>
              </a:ext>
            </a:extLst>
          </p:cNvPr>
          <p:cNvCxnSpPr>
            <a:cxnSpLocks/>
          </p:cNvCxnSpPr>
          <p:nvPr/>
        </p:nvCxnSpPr>
        <p:spPr bwMode="auto">
          <a:xfrm>
            <a:off x="0" y="6096000"/>
            <a:ext cx="121920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E4B6352-498B-484C-B9D1-E548914CEBBC}"/>
              </a:ext>
            </a:extLst>
          </p:cNvPr>
          <p:cNvSpPr txBox="1"/>
          <p:nvPr/>
        </p:nvSpPr>
        <p:spPr>
          <a:xfrm>
            <a:off x="1679575" y="6267227"/>
            <a:ext cx="883284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kern="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Utilizing User Intent Recognized with VR for Robot Motion Planning</a:t>
            </a:r>
          </a:p>
          <a:p>
            <a:pPr algn="ctr"/>
            <a:r>
              <a:rPr lang="en-US" sz="1050" b="0" kern="0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Jihyun</a:t>
            </a:r>
            <a:r>
              <a:rPr lang="en-US" sz="1050" b="0" kern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Jeon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E9E989C1-3D0A-DAD9-3F93-15C923F7D9C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" t="36445" r="51015" b="36380"/>
          <a:stretch/>
        </p:blipFill>
        <p:spPr>
          <a:xfrm>
            <a:off x="304800" y="6238490"/>
            <a:ext cx="1623200" cy="4933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02F0C3-BCFC-267E-E8BF-FEE83C9977BB}"/>
              </a:ext>
            </a:extLst>
          </p:cNvPr>
          <p:cNvSpPr txBox="1"/>
          <p:nvPr/>
        </p:nvSpPr>
        <p:spPr>
          <a:xfrm>
            <a:off x="10974173" y="6468761"/>
            <a:ext cx="921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539804DE-1496-4C11-B6E2-2C7A325ED12F}" type="slidenum">
              <a:rPr lang="en-AU" sz="1400" smtClean="0">
                <a:latin typeface="Verdana" panose="020B0604030504040204" pitchFamily="34" charset="0"/>
                <a:ea typeface="Verdana" panose="020B0604030504040204" pitchFamily="34" charset="0"/>
              </a:rPr>
              <a:pPr algn="ctr"/>
              <a:t>‹#›</a:t>
            </a:fld>
            <a:endParaRPr lang="en-A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80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marL="0" marR="0" indent="0" algn="ctr" defTabSz="121917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Tx/>
        <a:buSzTx/>
        <a:buFontTx/>
        <a:buNone/>
        <a:tabLst/>
        <a:defRPr sz="3733">
          <a:solidFill>
            <a:sysClr val="windowText" lastClr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ea typeface="ＭＳ Ｐゴシック" pitchFamily="80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Tx/>
        <a:buFont typeface="Wingdings" charset="2"/>
        <a:buChar char="Ø"/>
        <a:defRPr sz="3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Ø"/>
        <a:defRPr sz="28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Ø"/>
        <a:defRPr sz="24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Ø"/>
        <a:defRPr sz="20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Ø"/>
        <a:defRPr sz="20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Helvetica" charset="0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Font typeface="Times" pitchFamily="80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Font typeface="Times" pitchFamily="80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Font typeface="Times" pitchFamily="80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Font typeface="Times" pitchFamily="80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C95DA082-1A44-523B-D0FE-C6DBDA60A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029730"/>
            <a:ext cx="5283200" cy="4812270"/>
          </a:xfrm>
        </p:spPr>
        <p:txBody>
          <a:bodyPr/>
          <a:lstStyle/>
          <a:p>
            <a:r>
              <a:rPr lang="en-US" dirty="0"/>
              <a:t>Further exploring relevant work and keeping track of results, limitations and notes</a:t>
            </a:r>
          </a:p>
          <a:p>
            <a:r>
              <a:rPr lang="en-US" dirty="0"/>
              <a:t>Used to specify a novel research topic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779D51C-E7A2-809C-D8A4-E982E15D65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965"/>
          <a:stretch/>
        </p:blipFill>
        <p:spPr>
          <a:xfrm>
            <a:off x="5994400" y="1705163"/>
            <a:ext cx="5892800" cy="3461404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3535CB-A05B-0C14-7856-9BAA7B48E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65297"/>
            <a:ext cx="11582400" cy="685800"/>
          </a:xfrm>
        </p:spPr>
        <p:txBody>
          <a:bodyPr wrap="square" anchor="ctr">
            <a:normAutofit/>
          </a:bodyPr>
          <a:lstStyle/>
          <a:p>
            <a:r>
              <a:rPr lang="en-KR" dirty="0"/>
              <a:t>Past Work (1): Relevant Work</a:t>
            </a:r>
          </a:p>
        </p:txBody>
      </p:sp>
    </p:spTree>
    <p:extLst>
      <p:ext uri="{BB962C8B-B14F-4D97-AF65-F5344CB8AC3E}">
        <p14:creationId xmlns:p14="http://schemas.microsoft.com/office/powerpoint/2010/main" val="1603162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4BC4F58-F769-205B-7BCC-8FB9049C62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r>
              <a:rPr lang="en-KR" dirty="0"/>
              <a:t>Able to track eye gaze</a:t>
            </a:r>
          </a:p>
          <a:p>
            <a:r>
              <a:rPr lang="en-KR" dirty="0"/>
              <a:t>Will remove ray from user view as it distracts eye gaze</a:t>
            </a:r>
          </a:p>
        </p:txBody>
      </p:sp>
      <p:pic>
        <p:nvPicPr>
          <p:cNvPr id="10" name="eye test.mov" descr="eye test.mov">
            <a:hlinkClick r:id="" action="ppaction://media"/>
            <a:extLst>
              <a:ext uri="{FF2B5EF4-FFF2-40B4-BE49-F238E27FC236}">
                <a16:creationId xmlns:a16="http://schemas.microsoft.com/office/drawing/2014/main" id="{E944E502-E46C-B884-9C65-B41015ADA262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l="21202" t="16172" r="46794" b="28096"/>
          <a:stretch/>
        </p:blipFill>
        <p:spPr>
          <a:xfrm>
            <a:off x="6096000" y="1029730"/>
            <a:ext cx="5283200" cy="484293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1B1EC2-4193-2D21-11B3-085A5810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Past Work (2): Eye Tracker</a:t>
            </a:r>
          </a:p>
        </p:txBody>
      </p:sp>
    </p:spTree>
    <p:extLst>
      <p:ext uri="{BB962C8B-B14F-4D97-AF65-F5344CB8AC3E}">
        <p14:creationId xmlns:p14="http://schemas.microsoft.com/office/powerpoint/2010/main" val="239832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71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3E07-73BE-16C9-1D02-F9321C7CC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KR" dirty="0"/>
              <a:t>Current Challenge: RealSense with Quest Pro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9A848-F2B7-0D0C-3464-AFE1C4FBD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Able to test camera and connect it to Ubuntu computer</a:t>
            </a:r>
          </a:p>
          <a:p>
            <a:r>
              <a:rPr lang="en-KR" dirty="0"/>
              <a:t>RealSenseSDK provides a wrapper for Android and sample Android apps</a:t>
            </a:r>
          </a:p>
          <a:p>
            <a:r>
              <a:rPr lang="en-KR" dirty="0"/>
              <a:t>Quest Pro is unable to connect and get video stream from RealSense</a:t>
            </a:r>
          </a:p>
          <a:p>
            <a:r>
              <a:rPr lang="en-KR" dirty="0"/>
              <a:t>Similar problems on the internet, lack of resources on solution</a:t>
            </a:r>
          </a:p>
          <a:p>
            <a:endParaRPr lang="en-KR" dirty="0"/>
          </a:p>
          <a:p>
            <a:pPr lvl="1"/>
            <a:endParaRPr lang="en-KR" dirty="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89D576C-163E-257A-7D0A-D90E203B8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272" y="4233615"/>
            <a:ext cx="3251065" cy="18282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6ED39D-153E-B172-63C3-7CD4314707AD}"/>
              </a:ext>
            </a:extLst>
          </p:cNvPr>
          <p:cNvSpPr txBox="1"/>
          <p:nvPr/>
        </p:nvSpPr>
        <p:spPr>
          <a:xfrm>
            <a:off x="4745620" y="5347504"/>
            <a:ext cx="3565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dirty="0"/>
              <a:t>Example of connection to computer with RealSense Viewer</a:t>
            </a:r>
          </a:p>
        </p:txBody>
      </p:sp>
    </p:spTree>
    <p:extLst>
      <p:ext uri="{BB962C8B-B14F-4D97-AF65-F5344CB8AC3E}">
        <p14:creationId xmlns:p14="http://schemas.microsoft.com/office/powerpoint/2010/main" val="1639739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3E07-73BE-16C9-1D02-F9321C7CC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9A848-F2B7-0D0C-3464-AFE1C4FBD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Adding video stream from depth camera to eye tracker</a:t>
            </a:r>
          </a:p>
          <a:p>
            <a:r>
              <a:rPr lang="en-KR" dirty="0"/>
              <a:t>Gathering user intent from eye gaze data</a:t>
            </a:r>
          </a:p>
          <a:p>
            <a:pPr lvl="1"/>
            <a:r>
              <a:rPr lang="en-KR" dirty="0"/>
              <a:t>Organize and process eye gaze data</a:t>
            </a:r>
          </a:p>
          <a:p>
            <a:pPr lvl="1"/>
            <a:r>
              <a:rPr lang="en-KR" dirty="0"/>
              <a:t>Creating a model for classifying intent</a:t>
            </a:r>
          </a:p>
          <a:p>
            <a:pPr lvl="1"/>
            <a:r>
              <a:rPr lang="en-KR" dirty="0"/>
              <a:t>Modify to be used for a dynamic video</a:t>
            </a:r>
          </a:p>
          <a:p>
            <a:pPr lvl="1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187262013"/>
      </p:ext>
    </p:extLst>
  </p:cSld>
  <p:clrMapOvr>
    <a:masterClrMapping/>
  </p:clrMapOvr>
</p:sld>
</file>

<file path=ppt/theme/theme1.xml><?xml version="1.0" encoding="utf-8"?>
<a:theme xmlns:a="http://schemas.openxmlformats.org/drawingml/2006/main" name="caltech_theme_new">
  <a:themeElements>
    <a:clrScheme name="Custom 1">
      <a:dk1>
        <a:srgbClr val="76777B"/>
      </a:dk1>
      <a:lt1>
        <a:srgbClr val="FFFFFF"/>
      </a:lt1>
      <a:dk2>
        <a:srgbClr val="000000"/>
      </a:dk2>
      <a:lt2>
        <a:srgbClr val="808080"/>
      </a:lt2>
      <a:accent1>
        <a:srgbClr val="FF6C0C"/>
      </a:accent1>
      <a:accent2>
        <a:srgbClr val="76777B"/>
      </a:accent2>
      <a:accent3>
        <a:srgbClr val="C8C8C8"/>
      </a:accent3>
      <a:accent4>
        <a:srgbClr val="AAA99F"/>
      </a:accent4>
      <a:accent5>
        <a:srgbClr val="CF0A2C"/>
      </a:accent5>
      <a:accent6>
        <a:srgbClr val="00A1DF"/>
      </a:accent6>
      <a:hlink>
        <a:srgbClr val="0070C0"/>
      </a:hlink>
      <a:folHlink>
        <a:srgbClr val="0070C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 Narrow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8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80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altech_theme_new" id="{CC9E72B5-00B8-4792-B1B4-B9FDF4AB5F51}" vid="{A14FBE93-C073-449C-A4AA-9C152C727C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caltech_theme_new</Template>
  <TotalTime>292</TotalTime>
  <Words>218</Words>
  <Application>Microsoft Macintosh PowerPoint</Application>
  <PresentationFormat>Widescreen</PresentationFormat>
  <Paragraphs>26</Paragraphs>
  <Slides>4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Times</vt:lpstr>
      <vt:lpstr>Arial</vt:lpstr>
      <vt:lpstr>Arial Narrow</vt:lpstr>
      <vt:lpstr>Calibri</vt:lpstr>
      <vt:lpstr>Verdana</vt:lpstr>
      <vt:lpstr>Wingdings</vt:lpstr>
      <vt:lpstr>caltech_theme_new</vt:lpstr>
      <vt:lpstr>Past Work (1): Relevant Work</vt:lpstr>
      <vt:lpstr>Past Work (2): Eye Tracker</vt:lpstr>
      <vt:lpstr>Current Challenge: RealSense with Quest Pro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Jeon, Ji Hyun</dc:creator>
  <cp:lastModifiedBy>Jeon, Ji Hyun</cp:lastModifiedBy>
  <cp:revision>3</cp:revision>
  <dcterms:created xsi:type="dcterms:W3CDTF">2024-06-26T01:44:46Z</dcterms:created>
  <dcterms:modified xsi:type="dcterms:W3CDTF">2024-07-10T15:37:20Z</dcterms:modified>
</cp:coreProperties>
</file>