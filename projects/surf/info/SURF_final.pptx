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59" r:id="rId3"/>
    <p:sldId id="260" r:id="rId4"/>
    <p:sldId id="261" r:id="rId5"/>
    <p:sldId id="262" r:id="rId6"/>
    <p:sldId id="266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1pPr>
    <a:lvl2pPr marL="342900"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2pPr>
    <a:lvl3pPr marL="685800"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3pPr>
    <a:lvl4pPr marL="1028700"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4pPr>
    <a:lvl5pPr marL="1371600"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5pPr>
    <a:lvl6pPr marL="1714500" algn="l" defTabSz="685800" rtl="0" eaLnBrk="1" latinLnBrk="0" hangingPunct="1"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6pPr>
    <a:lvl7pPr marL="2057400" algn="l" defTabSz="685800" rtl="0" eaLnBrk="1" latinLnBrk="0" hangingPunct="1"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7pPr>
    <a:lvl8pPr marL="2400300" algn="l" defTabSz="685800" rtl="0" eaLnBrk="1" latinLnBrk="0" hangingPunct="1"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8pPr>
    <a:lvl9pPr marL="2743200" algn="l" defTabSz="685800" rtl="0" eaLnBrk="1" latinLnBrk="0" hangingPunct="1"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76FB86-5A76-0943-B4DD-338F86B8F961}" v="27" dt="2024-06-26T06:03:01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97"/>
    <p:restoredTop sz="96132"/>
  </p:normalViewPr>
  <p:slideViewPr>
    <p:cSldViewPr snapToGrid="0">
      <p:cViewPr varScale="1">
        <p:scale>
          <a:sx n="108" d="100"/>
          <a:sy n="108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5506F-F678-4145-8C7E-F29EB10049E4}" type="datetimeFigureOut">
              <a:rPr lang="en-KR" smtClean="0"/>
              <a:t>11/20/24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CD408-5D71-A940-A3FF-1DB19D4BF94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5793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E5FE-4B50-43AB-85F7-A07AC5DB2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F2C7A-2ED2-47CC-837B-A7BA38B32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0813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62244"/>
            <a:ext cx="11582400" cy="685800"/>
          </a:xfrm>
        </p:spPr>
        <p:txBody>
          <a:bodyPr>
            <a:normAutofit/>
          </a:bodyPr>
          <a:lstStyle>
            <a:lvl1pPr>
              <a:defRPr sz="3500" b="1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2681"/>
            <a:ext cx="11582400" cy="4784504"/>
          </a:xfrm>
        </p:spPr>
        <p:txBody>
          <a:bodyPr anchor="ctr">
            <a:normAutofit/>
          </a:bodyPr>
          <a:lstStyle>
            <a:lvl1pPr marL="457189" indent="-457189">
              <a:buClr>
                <a:schemeClr val="tx1"/>
              </a:buClr>
              <a:buFont typeface="Wingdings" charset="2"/>
              <a:buChar char="Ø"/>
              <a:defRPr sz="2800"/>
            </a:lvl1pPr>
            <a:lvl2pPr marL="914377" indent="-457189">
              <a:buClr>
                <a:schemeClr val="tx1"/>
              </a:buClr>
              <a:buFont typeface="Wingdings" charset="2"/>
              <a:buChar char="Ø"/>
              <a:defRPr sz="2400"/>
            </a:lvl2pPr>
            <a:lvl3pPr marL="1295368" indent="-380990">
              <a:buClr>
                <a:schemeClr val="tx1"/>
              </a:buClr>
              <a:buFont typeface="Wingdings" charset="2"/>
              <a:buChar char="Ø"/>
              <a:defRPr sz="2000"/>
            </a:lvl3pPr>
            <a:lvl4pPr marL="1752556" indent="-380990">
              <a:buClr>
                <a:schemeClr val="tx1"/>
              </a:buClr>
              <a:buFont typeface="Wingdings" charset="2"/>
              <a:buChar char="Ø"/>
              <a:defRPr sz="1800"/>
            </a:lvl4pPr>
            <a:lvl5pPr marL="2209745" indent="-380990">
              <a:buClr>
                <a:schemeClr val="tx1"/>
              </a:buClr>
              <a:buFont typeface="Wingdings" charset="2"/>
              <a:buChar char="Ø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6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29730"/>
            <a:ext cx="5283200" cy="4812270"/>
          </a:xfrm>
        </p:spPr>
        <p:txBody>
          <a:bodyPr anchor="ctr">
            <a:normAutofit/>
          </a:bodyPr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4400" y="1029730"/>
            <a:ext cx="5892800" cy="4812270"/>
          </a:xfrm>
        </p:spPr>
        <p:txBody>
          <a:bodyPr anchor="ctr">
            <a:normAutofit/>
          </a:bodyPr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04800" y="165297"/>
            <a:ext cx="11582400" cy="685800"/>
          </a:xfrm>
        </p:spPr>
        <p:txBody>
          <a:bodyPr>
            <a:normAutofit/>
          </a:bodyPr>
          <a:lstStyle>
            <a:lvl1pPr>
              <a:defRPr sz="3500" b="1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77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/>
          <p:cNvSpPr txBox="1">
            <a:spLocks/>
          </p:cNvSpPr>
          <p:nvPr/>
        </p:nvSpPr>
        <p:spPr bwMode="auto">
          <a:xfrm>
            <a:off x="0" y="3530600"/>
            <a:ext cx="12192000" cy="147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98B01"/>
              </a:buClr>
              <a:buFont typeface="Times" pitchFamily="18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380DC"/>
              </a:buClr>
              <a:buFont typeface="Wingdings" pitchFamily="2" charset="2"/>
              <a:buChar char="§"/>
              <a:defRPr sz="2800">
                <a:solidFill>
                  <a:srgbClr val="4F4F4F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F4F4F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80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80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80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80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 eaLnBrk="1" hangingPunct="1">
              <a:buClr>
                <a:srgbClr val="00529B"/>
              </a:buClr>
              <a:buNone/>
            </a:pPr>
            <a:r>
              <a:rPr lang="en-US" altLang="en-US" sz="2133" b="1" kern="0" dirty="0">
                <a:solidFill>
                  <a:schemeClr val="bg1"/>
                </a:solidFill>
                <a:latin typeface="+mj-lt"/>
              </a:rPr>
              <a:t>Author</a:t>
            </a:r>
          </a:p>
          <a:p>
            <a:pPr marL="0" indent="0" algn="ctr" eaLnBrk="1" hangingPunct="1">
              <a:buClr>
                <a:srgbClr val="00529B"/>
              </a:buClr>
              <a:buNone/>
            </a:pPr>
            <a:r>
              <a:rPr lang="en-US" altLang="en-US" sz="2133" b="1" kern="0" dirty="0">
                <a:solidFill>
                  <a:schemeClr val="bg1"/>
                </a:solidFill>
                <a:latin typeface="+mj-lt"/>
              </a:rPr>
              <a:t>Company/Organization</a:t>
            </a:r>
          </a:p>
          <a:p>
            <a:pPr marL="0" indent="0" algn="ctr" eaLnBrk="1" hangingPunct="1">
              <a:buClr>
                <a:srgbClr val="00529B"/>
              </a:buClr>
              <a:buNone/>
            </a:pPr>
            <a:r>
              <a:rPr lang="en-US" altLang="en-US" sz="2133" kern="0" dirty="0">
                <a:solidFill>
                  <a:schemeClr val="bg1"/>
                </a:solidFill>
                <a:latin typeface="+mj-lt"/>
              </a:rPr>
              <a:t>Conference Name, Conference Dates</a:t>
            </a:r>
          </a:p>
          <a:p>
            <a:pPr marL="0" indent="0" algn="ctr" eaLnBrk="1" hangingPunct="1">
              <a:buClr>
                <a:srgbClr val="00529B"/>
              </a:buClr>
              <a:buNone/>
            </a:pPr>
            <a:r>
              <a:rPr lang="en-US" altLang="en-US" sz="2133" kern="0" dirty="0">
                <a:solidFill>
                  <a:schemeClr val="bg1"/>
                </a:solidFill>
                <a:latin typeface="+mj-lt"/>
              </a:rPr>
              <a:t>Conference Location</a:t>
            </a:r>
          </a:p>
          <a:p>
            <a:pPr>
              <a:buClr>
                <a:srgbClr val="00529B"/>
              </a:buClr>
              <a:buFont typeface="Wingdings" charset="2"/>
              <a:buChar char="Ø"/>
            </a:pPr>
            <a:endParaRPr lang="en-US" sz="3200" kern="0" dirty="0"/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0" y="990600"/>
            <a:ext cx="12192000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9pPr>
          </a:lstStyle>
          <a:p>
            <a:pPr algn="ctr"/>
            <a:r>
              <a:rPr lang="en-US" sz="7200" b="1" kern="0" dirty="0">
                <a:solidFill>
                  <a:schemeClr val="bg1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73278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6016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7848" y="1498600"/>
            <a:ext cx="11582400" cy="4484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/>
          <p:cNvSpPr>
            <a:spLocks noGrp="1" noChangeArrowheads="1"/>
          </p:cNvSpPr>
          <p:nvPr/>
        </p:nvSpPr>
        <p:spPr bwMode="auto">
          <a:xfrm>
            <a:off x="4241800" y="6096000"/>
            <a:ext cx="386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80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>
              <a:defRPr/>
            </a:pPr>
            <a:endParaRPr lang="en-US" sz="140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1075"/>
            <a:ext cx="1158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 kern="0" dirty="0">
                <a:solidFill>
                  <a:schemeClr val="bg1"/>
                </a:solidFill>
              </a:rPr>
              <a:t>Presentation Title</a:t>
            </a:r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BDD363DC-C3FA-46F8-B68C-6BE18368EC8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4173" y="6245573"/>
            <a:ext cx="921264" cy="22318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3980CE-AD20-4171-81A4-A5B3AA7358BE}"/>
              </a:ext>
            </a:extLst>
          </p:cNvPr>
          <p:cNvCxnSpPr>
            <a:cxnSpLocks/>
          </p:cNvCxnSpPr>
          <p:nvPr/>
        </p:nvCxnSpPr>
        <p:spPr bwMode="auto">
          <a:xfrm>
            <a:off x="0" y="6096000"/>
            <a:ext cx="12192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E4B6352-498B-484C-B9D1-E548914CEBBC}"/>
              </a:ext>
            </a:extLst>
          </p:cNvPr>
          <p:cNvSpPr txBox="1"/>
          <p:nvPr/>
        </p:nvSpPr>
        <p:spPr>
          <a:xfrm>
            <a:off x="1679575" y="6267227"/>
            <a:ext cx="88328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kern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Utilizing User Intent Recognized with VR for Robot Motion Planning</a:t>
            </a:r>
          </a:p>
          <a:p>
            <a:pPr algn="ctr"/>
            <a:r>
              <a:rPr lang="en-US" sz="1050" b="0" kern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Jihyun</a:t>
            </a:r>
            <a:r>
              <a:rPr lang="en-US" sz="1050" b="0" kern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Jeon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E9E989C1-3D0A-DAD9-3F93-15C923F7D9C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2" t="36445" r="51015" b="36380"/>
          <a:stretch/>
        </p:blipFill>
        <p:spPr>
          <a:xfrm>
            <a:off x="304800" y="6238490"/>
            <a:ext cx="1623200" cy="4933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02F0C3-BCFC-267E-E8BF-FEE83C9977BB}"/>
              </a:ext>
            </a:extLst>
          </p:cNvPr>
          <p:cNvSpPr txBox="1"/>
          <p:nvPr/>
        </p:nvSpPr>
        <p:spPr>
          <a:xfrm>
            <a:off x="10974173" y="6468761"/>
            <a:ext cx="921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539804DE-1496-4C11-B6E2-2C7A325ED12F}" type="slidenum">
              <a:rPr lang="en-AU" sz="1400" smtClean="0">
                <a:latin typeface="Verdana" panose="020B0604030504040204" pitchFamily="34" charset="0"/>
                <a:ea typeface="Verdana" panose="020B0604030504040204" pitchFamily="34" charset="0"/>
              </a:rPr>
              <a:pPr algn="ctr"/>
              <a:t>‹#›</a:t>
            </a:fld>
            <a:endParaRPr lang="en-A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80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marL="0" marR="0" indent="0" algn="ctr" defTabSz="121917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tabLst/>
        <a:defRPr sz="3733">
          <a:solidFill>
            <a:sysClr val="windowText" lastClr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Tx/>
        <a:buFont typeface="Wingdings" charset="2"/>
        <a:buChar char="Ø"/>
        <a:defRPr sz="3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Helvetica" charset="0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charset="2"/>
        <a:buChar char="Ø"/>
        <a:defRPr sz="28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Helvetica" charset="0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charset="2"/>
        <a:buChar char="Ø"/>
        <a:defRPr sz="24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Helvetica" charset="0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charset="2"/>
        <a:buChar char="Ø"/>
        <a:defRPr sz="20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Helvetica" charset="0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charset="2"/>
        <a:buChar char="Ø"/>
        <a:defRPr sz="20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Helvetica" charset="0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Font typeface="Times" pitchFamily="80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Font typeface="Times" pitchFamily="80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Font typeface="Times" pitchFamily="80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Font typeface="Times" pitchFamily="80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3C4E34-E82E-E32B-14C0-5AC9FEE80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096" y="1214438"/>
            <a:ext cx="11257808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Utilizing User Intent Recognized with VR for Robotic Motion Planning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0C87198-B25A-71D1-60F4-0C8F5B1FE6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Jihyun</a:t>
            </a:r>
            <a:r>
              <a:rPr lang="en-US" dirty="0"/>
              <a:t> Jeon</a:t>
            </a:r>
          </a:p>
          <a:p>
            <a:r>
              <a:rPr lang="en-US" dirty="0"/>
              <a:t>Mentors: Yujin An, Dr. </a:t>
            </a:r>
            <a:r>
              <a:rPr lang="en-US" dirty="0" err="1"/>
              <a:t>Soonjo</a:t>
            </a:r>
            <a:r>
              <a:rPr lang="en-US" dirty="0"/>
              <a:t> Chung</a:t>
            </a:r>
          </a:p>
        </p:txBody>
      </p:sp>
    </p:spTree>
    <p:extLst>
      <p:ext uri="{BB962C8B-B14F-4D97-AF65-F5344CB8AC3E}">
        <p14:creationId xmlns:p14="http://schemas.microsoft.com/office/powerpoint/2010/main" val="3294838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F9A5-1DBE-51A6-193C-A30B3B35A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5" name="Picture 4" descr="A person with a computer on their lap&#10;&#10;Description automatically generated">
            <a:extLst>
              <a:ext uri="{FF2B5EF4-FFF2-40B4-BE49-F238E27FC236}">
                <a16:creationId xmlns:a16="http://schemas.microsoft.com/office/drawing/2014/main" id="{4A33354C-1879-DE7E-0AB0-66B5D40B9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97" y="1218750"/>
            <a:ext cx="5734983" cy="38188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A65C86-06C4-06A3-3DA4-8A1E371816B1}"/>
              </a:ext>
            </a:extLst>
          </p:cNvPr>
          <p:cNvSpPr txBox="1"/>
          <p:nvPr/>
        </p:nvSpPr>
        <p:spPr>
          <a:xfrm>
            <a:off x="1447261" y="5120483"/>
            <a:ext cx="3098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tx2"/>
                </a:solidFill>
              </a:rPr>
              <a:t>Brain-Acutuated Robotic Wheelchair</a:t>
            </a:r>
            <a:endParaRPr lang="en-KR" sz="1400">
              <a:solidFill>
                <a:schemeClr val="tx2"/>
              </a:solidFill>
            </a:endParaRPr>
          </a:p>
          <a:p>
            <a:pPr algn="ctr"/>
            <a:r>
              <a:rPr lang="en-US" sz="1400">
                <a:solidFill>
                  <a:schemeClr val="tx2"/>
                </a:solidFill>
              </a:rPr>
              <a:t>Lopes</a:t>
            </a:r>
            <a:r>
              <a:rPr lang="en-KR" sz="1400">
                <a:solidFill>
                  <a:schemeClr val="tx2"/>
                </a:solidFill>
              </a:rPr>
              <a:t> et al (20</a:t>
            </a:r>
            <a:r>
              <a:rPr lang="en-US" sz="1400">
                <a:solidFill>
                  <a:schemeClr val="tx2"/>
                </a:solidFill>
              </a:rPr>
              <a:t>16</a:t>
            </a:r>
            <a:r>
              <a:rPr lang="en-KR" sz="1400">
                <a:solidFill>
                  <a:schemeClr val="tx2"/>
                </a:solidFill>
              </a:rPr>
              <a:t>)</a:t>
            </a:r>
            <a:endParaRPr lang="en-KR" sz="1400" dirty="0">
              <a:solidFill>
                <a:schemeClr val="tx2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822B99-17D1-DB8A-38BE-E1D27CCC8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4400" y="851097"/>
            <a:ext cx="5892800" cy="4812270"/>
          </a:xfrm>
        </p:spPr>
        <p:txBody>
          <a:bodyPr/>
          <a:lstStyle/>
          <a:p>
            <a:r>
              <a:rPr lang="en-US" dirty="0"/>
              <a:t>BCI holds exciting prospects for robots helping people with severe mobile disabilities</a:t>
            </a:r>
          </a:p>
          <a:p>
            <a:r>
              <a:rPr lang="en-US" dirty="0"/>
              <a:t>But BCI-based control is unintuitive, noisy, and tiring</a:t>
            </a:r>
          </a:p>
          <a:p>
            <a:r>
              <a:rPr lang="en-US" dirty="0"/>
              <a:t>With the use of a VR interface, can overcome the limitations</a:t>
            </a:r>
          </a:p>
        </p:txBody>
      </p:sp>
    </p:spTree>
    <p:extLst>
      <p:ext uri="{BB962C8B-B14F-4D97-AF65-F5344CB8AC3E}">
        <p14:creationId xmlns:p14="http://schemas.microsoft.com/office/powerpoint/2010/main" val="88656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7165B-F6A2-91E9-4A76-75AF8F699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Research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411CB2-FD5B-5FCA-F76E-8FBF6A55417E}"/>
              </a:ext>
            </a:extLst>
          </p:cNvPr>
          <p:cNvSpPr txBox="1"/>
          <p:nvPr/>
        </p:nvSpPr>
        <p:spPr>
          <a:xfrm>
            <a:off x="558800" y="1109755"/>
            <a:ext cx="3467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2400" dirty="0"/>
              <a:t>User Intent Recognition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D53B22-49CD-20C9-172D-8F0726AD64C0}"/>
              </a:ext>
            </a:extLst>
          </p:cNvPr>
          <p:cNvSpPr txBox="1"/>
          <p:nvPr/>
        </p:nvSpPr>
        <p:spPr>
          <a:xfrm>
            <a:off x="4362450" y="1090909"/>
            <a:ext cx="3467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2400" dirty="0"/>
              <a:t>VR based Teleoperation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B14C8-3C03-555A-4D2D-D1B832AE0303}"/>
              </a:ext>
            </a:extLst>
          </p:cNvPr>
          <p:cNvSpPr txBox="1"/>
          <p:nvPr/>
        </p:nvSpPr>
        <p:spPr>
          <a:xfrm>
            <a:off x="8166100" y="1090909"/>
            <a:ext cx="372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2400" dirty="0"/>
              <a:t>BCI with Eye Gaze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0D627A-E3B0-FD5E-4035-09E9D29720FD}"/>
              </a:ext>
            </a:extLst>
          </p:cNvPr>
          <p:cNvSpPr txBox="1"/>
          <p:nvPr/>
        </p:nvSpPr>
        <p:spPr>
          <a:xfrm>
            <a:off x="635000" y="5304644"/>
            <a:ext cx="1092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2800" dirty="0">
                <a:sym typeface="Wingdings" pitchFamily="2" charset="2"/>
              </a:rPr>
              <a:t> No Remote VR-based Teleoperation with Indirect Input Signals </a:t>
            </a:r>
            <a:endParaRPr lang="en-KR" sz="2800" dirty="0"/>
          </a:p>
        </p:txBody>
      </p:sp>
      <p:pic>
        <p:nvPicPr>
          <p:cNvPr id="9" name="Picture 8" descr="A person working on a robot&#10;&#10;Description automatically generated">
            <a:extLst>
              <a:ext uri="{FF2B5EF4-FFF2-40B4-BE49-F238E27FC236}">
                <a16:creationId xmlns:a16="http://schemas.microsoft.com/office/drawing/2014/main" id="{1ECEAB82-45CF-F1E4-D704-B6975CC76B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5" b="7556"/>
          <a:stretch/>
        </p:blipFill>
        <p:spPr>
          <a:xfrm>
            <a:off x="790575" y="1552574"/>
            <a:ext cx="3003550" cy="25415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666507-C0AE-AFE8-210E-B6663586166F}"/>
              </a:ext>
            </a:extLst>
          </p:cNvPr>
          <p:cNvSpPr txBox="1"/>
          <p:nvPr/>
        </p:nvSpPr>
        <p:spPr>
          <a:xfrm>
            <a:off x="743223" y="4094107"/>
            <a:ext cx="3098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400" dirty="0">
                <a:solidFill>
                  <a:schemeClr val="tx2"/>
                </a:solidFill>
              </a:rPr>
              <a:t>Used for human-robot collaboration</a:t>
            </a:r>
          </a:p>
          <a:p>
            <a:pPr algn="ctr"/>
            <a:r>
              <a:rPr lang="en-KR" sz="1400" dirty="0">
                <a:solidFill>
                  <a:schemeClr val="tx2"/>
                </a:solidFill>
              </a:rPr>
              <a:t>Belcamino et al (2024)</a:t>
            </a:r>
          </a:p>
        </p:txBody>
      </p:sp>
      <p:pic>
        <p:nvPicPr>
          <p:cNvPr id="11" name="Picture 10" descr="A diagram of a robot&#10;&#10;Description automatically generated">
            <a:extLst>
              <a:ext uri="{FF2B5EF4-FFF2-40B4-BE49-F238E27FC236}">
                <a16:creationId xmlns:a16="http://schemas.microsoft.com/office/drawing/2014/main" id="{F97EF1D3-6CAB-82D9-577C-E0224907F6A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2"/>
          <a:stretch/>
        </p:blipFill>
        <p:spPr>
          <a:xfrm>
            <a:off x="4546873" y="1436393"/>
            <a:ext cx="3098253" cy="31225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2FEE62-99EA-7059-031E-FA9A8BE39D94}"/>
              </a:ext>
            </a:extLst>
          </p:cNvPr>
          <p:cNvSpPr txBox="1"/>
          <p:nvPr/>
        </p:nvSpPr>
        <p:spPr>
          <a:xfrm>
            <a:off x="4546873" y="4557551"/>
            <a:ext cx="3098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400" dirty="0">
                <a:solidFill>
                  <a:schemeClr val="tx2"/>
                </a:solidFill>
              </a:rPr>
              <a:t>Immersive teleoperation system</a:t>
            </a:r>
          </a:p>
          <a:p>
            <a:pPr algn="ctr"/>
            <a:r>
              <a:rPr lang="en-KR" sz="1400" dirty="0">
                <a:solidFill>
                  <a:schemeClr val="tx2"/>
                </a:solidFill>
              </a:rPr>
              <a:t>Stotko et al (2020)</a:t>
            </a:r>
          </a:p>
        </p:txBody>
      </p:sp>
      <p:pic>
        <p:nvPicPr>
          <p:cNvPr id="13" name="Picture 12" descr="A diagram of a computer simulation&#10;&#10;Description automatically generated with medium confidence">
            <a:extLst>
              <a:ext uri="{FF2B5EF4-FFF2-40B4-BE49-F238E27FC236}">
                <a16:creationId xmlns:a16="http://schemas.microsoft.com/office/drawing/2014/main" id="{401C2838-D1CB-6D8D-E787-1FE2B97E7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134" y="1551112"/>
            <a:ext cx="4057032" cy="30844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BF86F7D-4BDC-F6D3-CF94-BD7DA9E5708B}"/>
              </a:ext>
            </a:extLst>
          </p:cNvPr>
          <p:cNvSpPr txBox="1"/>
          <p:nvPr/>
        </p:nvSpPr>
        <p:spPr>
          <a:xfrm>
            <a:off x="8286067" y="4634273"/>
            <a:ext cx="3484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400" dirty="0">
                <a:solidFill>
                  <a:schemeClr val="tx2"/>
                </a:solidFill>
              </a:rPr>
              <a:t>Example of BCI framework with eye gaze</a:t>
            </a:r>
          </a:p>
          <a:p>
            <a:pPr algn="ctr"/>
            <a:r>
              <a:rPr lang="en-KR" sz="1400" dirty="0">
                <a:solidFill>
                  <a:schemeClr val="tx2"/>
                </a:solidFill>
              </a:rPr>
              <a:t>Shi et al (2017)</a:t>
            </a:r>
          </a:p>
        </p:txBody>
      </p:sp>
    </p:spTree>
    <p:extLst>
      <p:ext uri="{BB962C8B-B14F-4D97-AF65-F5344CB8AC3E}">
        <p14:creationId xmlns:p14="http://schemas.microsoft.com/office/powerpoint/2010/main" val="406424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ACE29-1B84-F2E2-D734-E81148140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Approach</a:t>
            </a:r>
          </a:p>
        </p:txBody>
      </p:sp>
      <p:pic>
        <p:nvPicPr>
          <p:cNvPr id="4" name="Content Placeholder 8" descr="A diagram of a device&#10;&#10;Description automatically generated">
            <a:extLst>
              <a:ext uri="{FF2B5EF4-FFF2-40B4-BE49-F238E27FC236}">
                <a16:creationId xmlns:a16="http://schemas.microsoft.com/office/drawing/2014/main" id="{763810CE-B79A-6E1C-F141-3281CB9BD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406" y="798463"/>
            <a:ext cx="7215187" cy="526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42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CCE8B-699D-C160-E2BE-B8D5B08D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1 – Native VR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2D270-75D0-5A07-962C-79588DDAD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386" y="4729654"/>
            <a:ext cx="10899228" cy="1280301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Eye tracker created using Meta </a:t>
            </a:r>
            <a:r>
              <a:rPr lang="en-US" dirty="0" err="1"/>
              <a:t>OpenXR</a:t>
            </a:r>
            <a:r>
              <a:rPr lang="en-US" dirty="0"/>
              <a:t> Plugin</a:t>
            </a:r>
          </a:p>
        </p:txBody>
      </p:sp>
      <p:pic>
        <p:nvPicPr>
          <p:cNvPr id="4" name="eye test.mov" descr="eye test.mov">
            <a:hlinkClick r:id="" action="ppaction://media"/>
            <a:extLst>
              <a:ext uri="{FF2B5EF4-FFF2-40B4-BE49-F238E27FC236}">
                <a16:creationId xmlns:a16="http://schemas.microsoft.com/office/drawing/2014/main" id="{DD1C1B20-2071-767A-311E-869CBDA245D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20926" t="19628" r="47070" b="39611"/>
          <a:stretch/>
        </p:blipFill>
        <p:spPr>
          <a:xfrm>
            <a:off x="3454400" y="1187668"/>
            <a:ext cx="5283200" cy="354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6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7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59DAD-DC6B-C046-2B31-6DB11601A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curved computer screen with a computer keyboard and a mouse&#10;&#10;Description automatically generated">
            <a:extLst>
              <a:ext uri="{FF2B5EF4-FFF2-40B4-BE49-F238E27FC236}">
                <a16:creationId xmlns:a16="http://schemas.microsoft.com/office/drawing/2014/main" id="{5108AC1D-4D76-4EE7-4A58-025C9294BCC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58" y="1029730"/>
            <a:ext cx="4252452" cy="4252452"/>
          </a:xfrm>
          <a:noFill/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E492B94-9214-67F2-68BE-5F0A1D876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4400" y="1029730"/>
            <a:ext cx="5892800" cy="48122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Incorporation of Intel RealSense D455 camera stream failed</a:t>
            </a:r>
          </a:p>
          <a:p>
            <a:r>
              <a:rPr lang="en-US" dirty="0" err="1"/>
              <a:t>ExoPlayer</a:t>
            </a:r>
            <a:endParaRPr lang="en-US" dirty="0"/>
          </a:p>
          <a:p>
            <a:pPr lvl="1"/>
            <a:r>
              <a:rPr lang="en-US" dirty="0"/>
              <a:t>Lack of support for VR and RealSense</a:t>
            </a:r>
          </a:p>
          <a:p>
            <a:r>
              <a:rPr lang="en-US" dirty="0"/>
              <a:t>ROS Java</a:t>
            </a:r>
          </a:p>
          <a:p>
            <a:pPr lvl="1"/>
            <a:r>
              <a:rPr lang="en-US" dirty="0"/>
              <a:t>Incompatible framework</a:t>
            </a:r>
          </a:p>
          <a:p>
            <a:r>
              <a:rPr lang="en-US" dirty="0" err="1"/>
              <a:t>Gstreamer</a:t>
            </a:r>
            <a:endParaRPr lang="en-US" dirty="0"/>
          </a:p>
          <a:p>
            <a:pPr lvl="1"/>
            <a:r>
              <a:rPr lang="en-US" dirty="0"/>
              <a:t>Difficulty streaming with RealSense, complicated integration with VR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5B169-1279-3B54-FED5-EE3530795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65297"/>
            <a:ext cx="11582400" cy="6858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Method 1 – Native VR Interface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9B7AEE-6D9A-4163-4B98-616D81EDB411}"/>
              </a:ext>
            </a:extLst>
          </p:cNvPr>
          <p:cNvSpPr txBox="1"/>
          <p:nvPr/>
        </p:nvSpPr>
        <p:spPr>
          <a:xfrm>
            <a:off x="939658" y="5412828"/>
            <a:ext cx="4252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ROS Mobile displaying camera stream on VR</a:t>
            </a:r>
          </a:p>
        </p:txBody>
      </p:sp>
    </p:spTree>
    <p:extLst>
      <p:ext uri="{BB962C8B-B14F-4D97-AF65-F5344CB8AC3E}">
        <p14:creationId xmlns:p14="http://schemas.microsoft.com/office/powerpoint/2010/main" val="1541851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D92633E0-6693-77D9-43AE-B5A1E5D045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5" b="6795"/>
          <a:stretch/>
        </p:blipFill>
        <p:spPr>
          <a:xfrm>
            <a:off x="658835" y="1029730"/>
            <a:ext cx="4860880" cy="4100513"/>
          </a:xfrm>
          <a:noFill/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8980D13-B331-DE39-E235-835F0C422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4400" y="1029730"/>
            <a:ext cx="5892800" cy="48122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Incorporating AWSIM failed</a:t>
            </a:r>
          </a:p>
          <a:p>
            <a:r>
              <a:rPr lang="en-US" dirty="0"/>
              <a:t>Incompatibilities with VR, Difficulty creating a PCVR app</a:t>
            </a:r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D48D87-DB26-508B-B112-B63C94E0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65297"/>
            <a:ext cx="11582400" cy="6858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Method 2 – Unity VR Interface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35A196-5043-475D-0E22-433C1210B52B}"/>
              </a:ext>
            </a:extLst>
          </p:cNvPr>
          <p:cNvSpPr txBox="1"/>
          <p:nvPr/>
        </p:nvSpPr>
        <p:spPr>
          <a:xfrm>
            <a:off x="963049" y="5308876"/>
            <a:ext cx="4252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Eye tracker implemented in Unity</a:t>
            </a:r>
          </a:p>
        </p:txBody>
      </p:sp>
    </p:spTree>
    <p:extLst>
      <p:ext uri="{BB962C8B-B14F-4D97-AF65-F5344CB8AC3E}">
        <p14:creationId xmlns:p14="http://schemas.microsoft.com/office/powerpoint/2010/main" val="234662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828D7-6141-3E80-CC80-BD52C4394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802F6-0844-7314-98F3-C95ECA556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76436"/>
            <a:ext cx="11582400" cy="4784504"/>
          </a:xfrm>
        </p:spPr>
        <p:txBody>
          <a:bodyPr anchor="t"/>
          <a:lstStyle/>
          <a:p>
            <a:r>
              <a:rPr lang="en-US" dirty="0"/>
              <a:t>Incorporate camera stream</a:t>
            </a:r>
          </a:p>
          <a:p>
            <a:pPr lvl="1"/>
            <a:r>
              <a:rPr lang="en-US" dirty="0"/>
              <a:t>Use of Unity VLC player plugin to receive stream from RealSense</a:t>
            </a:r>
          </a:p>
          <a:p>
            <a:r>
              <a:rPr lang="en-US" dirty="0"/>
              <a:t>Motion Control</a:t>
            </a:r>
          </a:p>
          <a:p>
            <a:pPr lvl="1"/>
            <a:r>
              <a:rPr lang="en-US" dirty="0"/>
              <a:t>Use of eye gaze for navigational control using a PI controller</a:t>
            </a:r>
          </a:p>
          <a:p>
            <a:r>
              <a:rPr lang="en-US" dirty="0"/>
              <a:t>BCI Research</a:t>
            </a:r>
          </a:p>
          <a:p>
            <a:pPr lvl="1"/>
            <a:r>
              <a:rPr lang="en-US" dirty="0"/>
              <a:t>Incorporating inputs from VR and BCI</a:t>
            </a:r>
          </a:p>
        </p:txBody>
      </p:sp>
    </p:spTree>
    <p:extLst>
      <p:ext uri="{BB962C8B-B14F-4D97-AF65-F5344CB8AC3E}">
        <p14:creationId xmlns:p14="http://schemas.microsoft.com/office/powerpoint/2010/main" val="727086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19D59-84E0-90EA-6421-9F5FE9FAA4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Thank you!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64F20D-3075-3F56-09B0-FE1F750A77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 would like to thank Yujin An for her guidance and support throughout the project, </a:t>
            </a:r>
          </a:p>
          <a:p>
            <a:pPr algn="l"/>
            <a:r>
              <a:rPr lang="en-US" dirty="0"/>
              <a:t>Dr Soon-Jo Chung for the opportunity to work in the ARCL lab, </a:t>
            </a:r>
          </a:p>
          <a:p>
            <a:r>
              <a:rPr lang="en-US" dirty="0"/>
              <a:t>and the SURF program for funding my research</a:t>
            </a:r>
          </a:p>
        </p:txBody>
      </p:sp>
    </p:spTree>
    <p:extLst>
      <p:ext uri="{BB962C8B-B14F-4D97-AF65-F5344CB8AC3E}">
        <p14:creationId xmlns:p14="http://schemas.microsoft.com/office/powerpoint/2010/main" val="3120711851"/>
      </p:ext>
    </p:extLst>
  </p:cSld>
  <p:clrMapOvr>
    <a:masterClrMapping/>
  </p:clrMapOvr>
</p:sld>
</file>

<file path=ppt/theme/theme1.xml><?xml version="1.0" encoding="utf-8"?>
<a:theme xmlns:a="http://schemas.openxmlformats.org/drawingml/2006/main" name="caltech_theme_new">
  <a:themeElements>
    <a:clrScheme name="Custom 1">
      <a:dk1>
        <a:srgbClr val="76777B"/>
      </a:dk1>
      <a:lt1>
        <a:srgbClr val="FFFFFF"/>
      </a:lt1>
      <a:dk2>
        <a:srgbClr val="000000"/>
      </a:dk2>
      <a:lt2>
        <a:srgbClr val="808080"/>
      </a:lt2>
      <a:accent1>
        <a:srgbClr val="FF6C0C"/>
      </a:accent1>
      <a:accent2>
        <a:srgbClr val="76777B"/>
      </a:accent2>
      <a:accent3>
        <a:srgbClr val="C8C8C8"/>
      </a:accent3>
      <a:accent4>
        <a:srgbClr val="AAA99F"/>
      </a:accent4>
      <a:accent5>
        <a:srgbClr val="CF0A2C"/>
      </a:accent5>
      <a:accent6>
        <a:srgbClr val="00A1DF"/>
      </a:accent6>
      <a:hlink>
        <a:srgbClr val="0070C0"/>
      </a:hlink>
      <a:folHlink>
        <a:srgbClr val="0070C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 Narrow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8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80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altech_theme_new" id="{CC9E72B5-00B8-4792-B1B4-B9FDF4AB5F51}" vid="{A14FBE93-C073-449C-A4AA-9C152C727C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caltech_theme_new</Template>
  <TotalTime>1548</TotalTime>
  <Words>278</Words>
  <Application>Microsoft Macintosh PowerPoint</Application>
  <PresentationFormat>Widescreen</PresentationFormat>
  <Paragraphs>47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Times</vt:lpstr>
      <vt:lpstr>Arial</vt:lpstr>
      <vt:lpstr>Calibri</vt:lpstr>
      <vt:lpstr>Verdana</vt:lpstr>
      <vt:lpstr>Wingdings</vt:lpstr>
      <vt:lpstr>caltech_theme_new</vt:lpstr>
      <vt:lpstr>Utilizing User Intent Recognized with VR for Robotic Motion Planning</vt:lpstr>
      <vt:lpstr>Motivation</vt:lpstr>
      <vt:lpstr>Existing Research</vt:lpstr>
      <vt:lpstr>Proposed Approach</vt:lpstr>
      <vt:lpstr>Method 1 – Native VR Interface</vt:lpstr>
      <vt:lpstr>Method 1 – Native VR Interface</vt:lpstr>
      <vt:lpstr>Method 2 – Unity VR Interface</vt:lpstr>
      <vt:lpstr>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Jeon, Ji Hyun</dc:creator>
  <cp:lastModifiedBy>Jeon, Ji Hyun</cp:lastModifiedBy>
  <cp:revision>5</cp:revision>
  <dcterms:created xsi:type="dcterms:W3CDTF">2024-06-26T01:44:46Z</dcterms:created>
  <dcterms:modified xsi:type="dcterms:W3CDTF">2024-11-21T19:41:39Z</dcterms:modified>
</cp:coreProperties>
</file>